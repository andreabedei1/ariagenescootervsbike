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Idea in una frase: osservare nel traffico reale, senza provocare nulla, dove guarda chi guida un monopattino e come guida, usando gli occhiali di ricerca Aria Gen 2. Non è uno studio su incidenti.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Gli occhiali registrano video della scena, direzione dello sguardo, movimento della testa e traiettoria; il GPS quando disponibile. Audio e immagini degli occhi non servono all'analisi.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rotatorie sono un contesto importante ma non il centro dello studio: la maggior parte dei dati verrà da piste ciclabili e percorsi urbani. Il percorso definitivo deve rispettare le norme sui monopattini (da verificare).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Ogni campione di sguardo viene associato all'oggetto o alla superficie che il rider sta guardando (semantic gaze). Da qui: tempi di osservazione per categoria, sguardi laterali, sguardo in avanti.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Domanda centrale: quanto prima il rider vede un pedone o un veicolo, e quanto dopo reagisce. Misuriamo il primo sguardo sul bersaglio, l'inizio della decelerazione, la decelerazione massima e il momento di massimo avvicinamento.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struttura dei dati (una riga per tratto di percorso, con codice del rider e tipo di infrastruttura) permette di separare ciò che dipende dalla persona da ciò che dipende dal contesto. Eventuali stili di guida emergeranno dai dati, senza etichette a priori.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Sicurezza: nessuna situazione provocata, rispetto delle regole (casco obbligatorio). Privacy: codici al posto dei nomi, elaborazione locale, sfocatura di volti e targhe prima di guardare i video, protezione del GPS. Restano da definire con DPO e Comitato: base giuridica, DPIA, conservazione.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Cosa produce il progetto: metriche quantitative per tratto di percorso e per interazione, tempi di sguardo per categoria, confronti tra infrastrutture e tra rider, una pipeline documentata. Oggi il sistema funziona end-to-end su dati sintetici; il primo passo reale è il pilota.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B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417320"/>
            <a:ext cx="694944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A9E8F"/>
                </a:solidFill>
                <a:latin typeface="Calibri"/>
              </a:rPr>
              <a:t>AriaGenEScooter  |  IDEA</a:t>
            </a:r>
          </a:p>
        </p:txBody>
      </p:sp>
      <p:sp>
        <p:nvSpPr>
          <p:cNvPr id="3" name="Main idea"/>
          <p:cNvSpPr txBox="1"/>
          <p:nvPr/>
        </p:nvSpPr>
        <p:spPr>
          <a:xfrm>
            <a:off x="731520" y="1920240"/>
            <a:ext cx="6949440" cy="2011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Studiare guida e attenzione</a:t>
            </a:r>
          </a:p>
          <a:p>
            <a:pPr algn="l">
              <a:spcAft>
                <a:spcPts val="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visiva durante l'uso reale</a:t>
            </a:r>
          </a:p>
          <a:p>
            <a:pPr algn="l">
              <a:spcAft>
                <a:spcPts val="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dell'e-scooter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069080"/>
            <a:ext cx="7040880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C6D5D2"/>
                </a:solidFill>
                <a:latin typeface="Calibri"/>
              </a:rPr>
              <a:t>Studio naturalistico in città con gli occhiali di ricerca Meta Project Aria Gen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89320"/>
            <a:ext cx="694944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C6D5D2"/>
                </a:solidFill>
                <a:latin typeface="Calibri"/>
              </a:rPr>
              <a:t>Bozza per discussione interna  |  ottobre 2026</a:t>
            </a:r>
          </a:p>
        </p:txBody>
      </p:sp>
      <p:sp>
        <p:nvSpPr>
          <p:cNvPr id="6" name="Oval 5"/>
          <p:cNvSpPr/>
          <p:nvPr/>
        </p:nvSpPr>
        <p:spPr>
          <a:xfrm>
            <a:off x="8001000" y="1783080"/>
            <a:ext cx="3291840" cy="3291840"/>
          </a:xfrm>
          <a:prstGeom prst="ellipse">
            <a:avLst/>
          </a:prstGeom>
          <a:solidFill>
            <a:srgbClr val="2C3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458200" y="2240280"/>
            <a:ext cx="2377440" cy="2377440"/>
          </a:xfrm>
          <a:prstGeom prst="ellipse">
            <a:avLst/>
          </a:prstGeom>
          <a:solidFill>
            <a:srgbClr val="116D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915400" y="2697480"/>
            <a:ext cx="1463040" cy="1463040"/>
          </a:xfrm>
          <a:prstGeom prst="ellipse">
            <a:avLst/>
          </a:prstGeom>
          <a:solidFill>
            <a:srgbClr val="1A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Gaze point"/>
          <p:cNvSpPr/>
          <p:nvPr/>
        </p:nvSpPr>
        <p:spPr>
          <a:xfrm>
            <a:off x="9317736" y="3099816"/>
            <a:ext cx="658368" cy="658368"/>
          </a:xfrm>
          <a:prstGeom prst="ellipse">
            <a:avLst/>
          </a:prstGeom>
          <a:solidFill>
            <a:srgbClr val="F2A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3600" b="1" i="0">
                <a:solidFill>
                  <a:srgbClr val="1F2B38"/>
                </a:solidFill>
                <a:latin typeface="Calibri"/>
              </a:rPr>
              <a:t>Cosa registriamo</a:t>
            </a:r>
          </a:p>
        </p:txBody>
      </p:sp>
      <p:sp>
        <p:nvSpPr>
          <p:cNvPr id="3" name="Card Aria Gen 2"/>
          <p:cNvSpPr/>
          <p:nvPr/>
        </p:nvSpPr>
        <p:spPr>
          <a:xfrm>
            <a:off x="548640" y="1600200"/>
            <a:ext cx="2011680" cy="3429000"/>
          </a:xfrm>
          <a:prstGeom prst="roundRect">
            <a:avLst/>
          </a:prstGeom>
          <a:solidFill>
            <a:srgbClr val="EC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" y="1920240"/>
            <a:ext cx="1188720" cy="1188720"/>
          </a:xfrm>
          <a:prstGeom prst="ellipse">
            <a:avLst/>
          </a:prstGeom>
          <a:solidFill>
            <a:srgbClr val="1A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82319" y="2383840"/>
            <a:ext cx="321868" cy="261518"/>
          </a:xfrm>
          <a:prstGeom prst="ellipse">
            <a:avLst/>
          </a:prstGeom>
          <a:noFill/>
          <a:ln w="317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04772" y="2383840"/>
            <a:ext cx="321868" cy="261518"/>
          </a:xfrm>
          <a:prstGeom prst="ellipse">
            <a:avLst/>
          </a:prstGeom>
          <a:noFill/>
          <a:ln w="317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1504188" y="2474366"/>
            <a:ext cx="100584" cy="0"/>
          </a:xfrm>
          <a:prstGeom prst="line">
            <a:avLst/>
          </a:prstGeom>
          <a:ln w="317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H="1" flipV="1">
            <a:off x="1081735" y="2393899"/>
            <a:ext cx="100584" cy="60350"/>
          </a:xfrm>
          <a:prstGeom prst="line">
            <a:avLst/>
          </a:prstGeom>
          <a:ln w="317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1926640" y="2393899"/>
            <a:ext cx="100584" cy="60350"/>
          </a:xfrm>
          <a:prstGeom prst="line">
            <a:avLst/>
          </a:prstGeom>
          <a:ln w="317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31520" y="3429000"/>
            <a:ext cx="164592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1F2B38"/>
                </a:solidFill>
                <a:latin typeface="Calibri"/>
              </a:rPr>
              <a:t>Aria Gen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931920"/>
            <a:ext cx="1645920" cy="914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500" b="0" i="0">
                <a:solidFill>
                  <a:srgbClr val="556270"/>
                </a:solidFill>
                <a:latin typeface="Calibri"/>
              </a:rPr>
              <a:t>occhiali di ricerca con sensori</a:t>
            </a:r>
          </a:p>
        </p:txBody>
      </p:sp>
      <p:sp>
        <p:nvSpPr>
          <p:cNvPr id="12" name="Card Sguardo"/>
          <p:cNvSpPr/>
          <p:nvPr/>
        </p:nvSpPr>
        <p:spPr>
          <a:xfrm>
            <a:off x="2807208" y="1600200"/>
            <a:ext cx="2011680" cy="3429000"/>
          </a:xfrm>
          <a:prstGeom prst="roundRect">
            <a:avLst/>
          </a:prstGeom>
          <a:solidFill>
            <a:srgbClr val="EC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218688" y="1920240"/>
            <a:ext cx="1188720" cy="1188720"/>
          </a:xfrm>
          <a:prstGeom prst="ellipse">
            <a:avLst/>
          </a:prstGeom>
          <a:solidFill>
            <a:srgbClr val="1A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410712" y="2303373"/>
            <a:ext cx="804672" cy="42245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652113" y="2353665"/>
            <a:ext cx="321868" cy="321868"/>
          </a:xfrm>
          <a:prstGeom prst="ellipse">
            <a:avLst/>
          </a:prstGeom>
          <a:solidFill>
            <a:srgbClr val="F2A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742639" y="2444191"/>
            <a:ext cx="140817" cy="140817"/>
          </a:xfrm>
          <a:prstGeom prst="ellipse">
            <a:avLst/>
          </a:prstGeom>
          <a:solidFill>
            <a:srgbClr val="1F2B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990088" y="3429000"/>
            <a:ext cx="164592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1F2B38"/>
                </a:solidFill>
                <a:latin typeface="Calibri"/>
              </a:rPr>
              <a:t>Sguardo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90088" y="3931920"/>
            <a:ext cx="1645920" cy="914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500" b="0" i="0">
                <a:solidFill>
                  <a:srgbClr val="556270"/>
                </a:solidFill>
                <a:latin typeface="Calibri"/>
              </a:rPr>
              <a:t>dove guarda il rider (30 volte al secondo)</a:t>
            </a:r>
          </a:p>
        </p:txBody>
      </p:sp>
      <p:sp>
        <p:nvSpPr>
          <p:cNvPr id="19" name="Card Video RGB"/>
          <p:cNvSpPr/>
          <p:nvPr/>
        </p:nvSpPr>
        <p:spPr>
          <a:xfrm>
            <a:off x="5065776" y="1600200"/>
            <a:ext cx="2011680" cy="3429000"/>
          </a:xfrm>
          <a:prstGeom prst="roundRect">
            <a:avLst/>
          </a:prstGeom>
          <a:solidFill>
            <a:srgbClr val="EC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477256" y="1920240"/>
            <a:ext cx="1188720" cy="1188720"/>
          </a:xfrm>
          <a:prstGeom prst="ellipse">
            <a:avLst/>
          </a:prstGeom>
          <a:solidFill>
            <a:srgbClr val="1A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739688" y="2283256"/>
            <a:ext cx="663854" cy="462686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Isosceles Triangle 21"/>
          <p:cNvSpPr/>
          <p:nvPr/>
        </p:nvSpPr>
        <p:spPr>
          <a:xfrm rot="5400000">
            <a:off x="5971032" y="2403957"/>
            <a:ext cx="221284" cy="221284"/>
          </a:xfrm>
          <a:prstGeom prst="triangle">
            <a:avLst/>
          </a:prstGeom>
          <a:solidFill>
            <a:srgbClr val="1A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248656" y="3429000"/>
            <a:ext cx="164592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1F2B38"/>
                </a:solidFill>
                <a:latin typeface="Calibri"/>
              </a:rPr>
              <a:t>Video RGB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48656" y="3931920"/>
            <a:ext cx="1645920" cy="914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500" b="0" i="0">
                <a:solidFill>
                  <a:srgbClr val="556270"/>
                </a:solidFill>
                <a:latin typeface="Calibri"/>
              </a:rPr>
              <a:t>la scena davanti al rider</a:t>
            </a:r>
          </a:p>
        </p:txBody>
      </p:sp>
      <p:sp>
        <p:nvSpPr>
          <p:cNvPr id="25" name="Card IMU / VIO"/>
          <p:cNvSpPr/>
          <p:nvPr/>
        </p:nvSpPr>
        <p:spPr>
          <a:xfrm>
            <a:off x="7324344" y="1600200"/>
            <a:ext cx="2011680" cy="3429000"/>
          </a:xfrm>
          <a:prstGeom prst="roundRect">
            <a:avLst/>
          </a:prstGeom>
          <a:solidFill>
            <a:srgbClr val="EC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735823" y="1920240"/>
            <a:ext cx="1188720" cy="1188720"/>
          </a:xfrm>
          <a:prstGeom prst="ellipse">
            <a:avLst/>
          </a:prstGeom>
          <a:solidFill>
            <a:srgbClr val="1A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Freeform 26"/>
          <p:cNvSpPr/>
          <p:nvPr/>
        </p:nvSpPr>
        <p:spPr>
          <a:xfrm>
            <a:off x="7968081" y="2373952"/>
            <a:ext cx="663855" cy="281295"/>
          </a:xfrm>
          <a:custGeom>
            <a:avLst/>
            <a:gdLst/>
            <a:ahLst/>
            <a:cxnLst/>
            <a:rect l="l" t="t" r="r" b="b"/>
            <a:pathLst>
              <a:path w="663855" h="281295">
                <a:moveTo>
                  <a:pt x="0" y="154483"/>
                </a:moveTo>
                <a:lnTo>
                  <a:pt x="60350" y="80465"/>
                </a:lnTo>
                <a:lnTo>
                  <a:pt x="120701" y="23574"/>
                </a:lnTo>
                <a:lnTo>
                  <a:pt x="181051" y="0"/>
                </a:lnTo>
                <a:lnTo>
                  <a:pt x="241402" y="16452"/>
                </a:lnTo>
                <a:lnTo>
                  <a:pt x="301752" y="68248"/>
                </a:lnTo>
                <a:lnTo>
                  <a:pt x="362102" y="140648"/>
                </a:lnTo>
                <a:lnTo>
                  <a:pt x="422453" y="213047"/>
                </a:lnTo>
                <a:lnTo>
                  <a:pt x="482803" y="264843"/>
                </a:lnTo>
                <a:lnTo>
                  <a:pt x="543154" y="281295"/>
                </a:lnTo>
                <a:lnTo>
                  <a:pt x="603504" y="257721"/>
                </a:lnTo>
                <a:lnTo>
                  <a:pt x="663855" y="200830"/>
                </a:lnTo>
              </a:path>
            </a:pathLst>
          </a:custGeom>
          <a:noFill/>
          <a:ln w="381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561527" y="2504373"/>
            <a:ext cx="140817" cy="140817"/>
          </a:xfrm>
          <a:prstGeom prst="ellipse">
            <a:avLst/>
          </a:prstGeom>
          <a:solidFill>
            <a:srgbClr val="F2A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507223" y="3429000"/>
            <a:ext cx="164592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1F2B38"/>
                </a:solidFill>
                <a:latin typeface="Calibri"/>
              </a:rPr>
              <a:t>IMU / VIO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07223" y="3931920"/>
            <a:ext cx="1645920" cy="914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500" b="0" i="0">
                <a:solidFill>
                  <a:srgbClr val="556270"/>
                </a:solidFill>
                <a:latin typeface="Calibri"/>
              </a:rPr>
              <a:t>movimento e traiettoria</a:t>
            </a:r>
          </a:p>
        </p:txBody>
      </p:sp>
      <p:sp>
        <p:nvSpPr>
          <p:cNvPr id="31" name="Card Posizione"/>
          <p:cNvSpPr/>
          <p:nvPr/>
        </p:nvSpPr>
        <p:spPr>
          <a:xfrm>
            <a:off x="9582912" y="1600200"/>
            <a:ext cx="2011680" cy="3429000"/>
          </a:xfrm>
          <a:prstGeom prst="roundRect">
            <a:avLst/>
          </a:prstGeom>
          <a:solidFill>
            <a:srgbClr val="EC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9994392" y="1920240"/>
            <a:ext cx="1188720" cy="1188720"/>
          </a:xfrm>
          <a:prstGeom prst="ellipse">
            <a:avLst/>
          </a:prstGeom>
          <a:solidFill>
            <a:srgbClr val="1A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ardrop 32"/>
          <p:cNvSpPr/>
          <p:nvPr/>
        </p:nvSpPr>
        <p:spPr>
          <a:xfrm rot="8100000">
            <a:off x="10367467" y="2212848"/>
            <a:ext cx="442569" cy="442569"/>
          </a:xfrm>
          <a:prstGeom prst="teardrop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0508284" y="2353665"/>
            <a:ext cx="160934" cy="160934"/>
          </a:xfrm>
          <a:prstGeom prst="ellipse">
            <a:avLst/>
          </a:prstGeom>
          <a:solidFill>
            <a:srgbClr val="1A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765792" y="3429000"/>
            <a:ext cx="164592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1F2B38"/>
                </a:solidFill>
                <a:latin typeface="Calibri"/>
              </a:rPr>
              <a:t>Posizione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765792" y="3931920"/>
            <a:ext cx="1645920" cy="914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500" b="0" i="0">
                <a:solidFill>
                  <a:srgbClr val="556270"/>
                </a:solidFill>
                <a:latin typeface="Calibri"/>
              </a:rPr>
              <a:t>GPS, quando disponibile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5486400"/>
            <a:ext cx="11064240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F2B38"/>
                </a:solidFill>
                <a:latin typeface="Calibri"/>
              </a:rPr>
              <a:t>Un solo orologio per tutti i sensori: </a:t>
            </a:r>
            <a:r>
              <a:rPr sz="1600" b="0" i="0">
                <a:solidFill>
                  <a:srgbClr val="1F2B38"/>
                </a:solidFill>
                <a:latin typeface="Calibri"/>
              </a:rPr>
              <a:t>sguardo, video e movimento sono sincronizzati con precisione.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3600" b="1" i="0">
                <a:solidFill>
                  <a:srgbClr val="1F2B38"/>
                </a:solidFill>
                <a:latin typeface="Calibri"/>
              </a:rPr>
              <a:t>Dove: contesti urbani diversi</a:t>
            </a:r>
          </a:p>
        </p:txBody>
      </p:sp>
      <p:sp>
        <p:nvSpPr>
          <p:cNvPr id="3" name="Tile protected cycle path"/>
          <p:cNvSpPr/>
          <p:nvPr/>
        </p:nvSpPr>
        <p:spPr>
          <a:xfrm>
            <a:off x="548640" y="1463040"/>
            <a:ext cx="3520440" cy="1783080"/>
          </a:xfrm>
          <a:prstGeom prst="roundRect">
            <a:avLst/>
          </a:prstGeom>
          <a:solidFill>
            <a:srgbClr val="EC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49808" y="1664208"/>
            <a:ext cx="548640" cy="1371600"/>
          </a:xfrm>
          <a:prstGeom prst="rect">
            <a:avLst/>
          </a:prstGeom>
          <a:solidFill>
            <a:srgbClr val="7A84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298448" y="1664208"/>
            <a:ext cx="82296" cy="1371600"/>
          </a:xfrm>
          <a:prstGeom prst="rect">
            <a:avLst/>
          </a:prstGeom>
          <a:solidFill>
            <a:srgbClr val="1F2B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380744" y="1664208"/>
            <a:ext cx="411479" cy="1371600"/>
          </a:xfrm>
          <a:prstGeom prst="rect">
            <a:avLst/>
          </a:prstGeom>
          <a:solidFill>
            <a:srgbClr val="C84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792224" y="1664208"/>
            <a:ext cx="82296" cy="1371600"/>
          </a:xfrm>
          <a:prstGeom prst="rect">
            <a:avLst/>
          </a:prstGeom>
          <a:solidFill>
            <a:srgbClr val="1F2B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74519" y="1664208"/>
            <a:ext cx="246888" cy="1371600"/>
          </a:xfrm>
          <a:prstGeom prst="rect">
            <a:avLst/>
          </a:prstGeom>
          <a:solidFill>
            <a:srgbClr val="D9D0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86968" y="1869948"/>
            <a:ext cx="274320" cy="438912"/>
          </a:xfrm>
          <a:prstGeom prst="roundRect">
            <a:avLst/>
          </a:prstGeom>
          <a:solidFill>
            <a:srgbClr val="1F2B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504187" y="2432304"/>
            <a:ext cx="164592" cy="164592"/>
          </a:xfrm>
          <a:prstGeom prst="ellipse">
            <a:avLst/>
          </a:prstGeom>
          <a:solidFill>
            <a:srgbClr val="1A9E8F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331720" y="1920240"/>
            <a:ext cx="1600200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1F2B38"/>
                </a:solidFill>
                <a:latin typeface="Calibri"/>
              </a:rPr>
              <a:t>Pista ciclabile protetta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31720" y="2606040"/>
            <a:ext cx="1600200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 i="1">
                <a:solidFill>
                  <a:srgbClr val="556270"/>
                </a:solidFill>
                <a:latin typeface="Calibri"/>
              </a:rPr>
              <a:t>protected cycle path</a:t>
            </a:r>
          </a:p>
        </p:txBody>
      </p:sp>
      <p:sp>
        <p:nvSpPr>
          <p:cNvPr id="13" name="Tile shared pedestrian-cycle path"/>
          <p:cNvSpPr/>
          <p:nvPr/>
        </p:nvSpPr>
        <p:spPr>
          <a:xfrm>
            <a:off x="4315968" y="1463040"/>
            <a:ext cx="3520440" cy="1783080"/>
          </a:xfrm>
          <a:prstGeom prst="roundRect">
            <a:avLst/>
          </a:prstGeom>
          <a:solidFill>
            <a:srgbClr val="EC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17136" y="1664208"/>
            <a:ext cx="1371600" cy="1371600"/>
          </a:xfrm>
          <a:prstGeom prst="rect">
            <a:avLst/>
          </a:prstGeom>
          <a:solidFill>
            <a:srgbClr val="7FB0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791455" y="1664208"/>
            <a:ext cx="822959" cy="1371600"/>
          </a:xfrm>
          <a:prstGeom prst="rect">
            <a:avLst/>
          </a:prstGeom>
          <a:solidFill>
            <a:srgbClr val="D9D0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882896" y="2002536"/>
            <a:ext cx="146304" cy="146304"/>
          </a:xfrm>
          <a:prstGeom prst="ellipse">
            <a:avLst/>
          </a:prstGeom>
          <a:solidFill>
            <a:srgbClr val="2E6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294375" y="2208276"/>
            <a:ext cx="146304" cy="146304"/>
          </a:xfrm>
          <a:prstGeom prst="ellipse">
            <a:avLst/>
          </a:prstGeom>
          <a:solidFill>
            <a:srgbClr val="2E6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052059" y="2610612"/>
            <a:ext cx="164592" cy="164592"/>
          </a:xfrm>
          <a:prstGeom prst="ellipse">
            <a:avLst/>
          </a:prstGeom>
          <a:solidFill>
            <a:srgbClr val="1A9E8F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99048" y="1920240"/>
            <a:ext cx="1600200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1F2B38"/>
                </a:solidFill>
                <a:latin typeface="Calibri"/>
              </a:rPr>
              <a:t>Percorso condiviso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99048" y="2606040"/>
            <a:ext cx="1600200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 i="1">
                <a:solidFill>
                  <a:srgbClr val="556270"/>
                </a:solidFill>
                <a:latin typeface="Calibri"/>
              </a:rPr>
              <a:t>shared pedestrian-cycle path</a:t>
            </a:r>
          </a:p>
        </p:txBody>
      </p:sp>
      <p:sp>
        <p:nvSpPr>
          <p:cNvPr id="21" name="Tile road shared with traffic"/>
          <p:cNvSpPr/>
          <p:nvPr/>
        </p:nvSpPr>
        <p:spPr>
          <a:xfrm>
            <a:off x="8083296" y="1463040"/>
            <a:ext cx="3520440" cy="1783080"/>
          </a:xfrm>
          <a:prstGeom prst="roundRect">
            <a:avLst/>
          </a:prstGeom>
          <a:solidFill>
            <a:srgbClr val="EC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284464" y="1664208"/>
            <a:ext cx="1371600" cy="1371600"/>
          </a:xfrm>
          <a:prstGeom prst="rect">
            <a:avLst/>
          </a:prstGeom>
          <a:solidFill>
            <a:srgbClr val="7A84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942832" y="1732788"/>
            <a:ext cx="54864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942832" y="2089404"/>
            <a:ext cx="54864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942832" y="2446020"/>
            <a:ext cx="54864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942832" y="2802636"/>
            <a:ext cx="54864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134856" y="1911095"/>
            <a:ext cx="274320" cy="438912"/>
          </a:xfrm>
          <a:prstGeom prst="roundRect">
            <a:avLst/>
          </a:prstGeom>
          <a:solidFill>
            <a:srgbClr val="1F2B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230868" y="2569464"/>
            <a:ext cx="164592" cy="164592"/>
          </a:xfrm>
          <a:prstGeom prst="ellipse">
            <a:avLst/>
          </a:prstGeom>
          <a:solidFill>
            <a:srgbClr val="1A9E8F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866376" y="1920240"/>
            <a:ext cx="1600200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1F2B38"/>
                </a:solidFill>
                <a:latin typeface="Calibri"/>
              </a:rPr>
              <a:t>Strada con traffico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66376" y="2606040"/>
            <a:ext cx="1600200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 i="1">
                <a:solidFill>
                  <a:srgbClr val="556270"/>
                </a:solidFill>
                <a:latin typeface="Calibri"/>
              </a:rPr>
              <a:t>road shared with traffic</a:t>
            </a:r>
          </a:p>
        </p:txBody>
      </p:sp>
      <p:sp>
        <p:nvSpPr>
          <p:cNvPr id="31" name="Tile crossings"/>
          <p:cNvSpPr/>
          <p:nvPr/>
        </p:nvSpPr>
        <p:spPr>
          <a:xfrm>
            <a:off x="548640" y="3520440"/>
            <a:ext cx="3520440" cy="1783080"/>
          </a:xfrm>
          <a:prstGeom prst="roundRect">
            <a:avLst/>
          </a:prstGeom>
          <a:solidFill>
            <a:srgbClr val="EC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49808" y="3721608"/>
            <a:ext cx="1371600" cy="1371600"/>
          </a:xfrm>
          <a:prstGeom prst="rect">
            <a:avLst/>
          </a:prstGeom>
          <a:solidFill>
            <a:srgbClr val="D9D0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49808" y="4064508"/>
            <a:ext cx="1371600" cy="685800"/>
          </a:xfrm>
          <a:prstGeom prst="rect">
            <a:avLst/>
          </a:prstGeom>
          <a:solidFill>
            <a:srgbClr val="7A84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86968" y="4133088"/>
            <a:ext cx="109728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78992" y="4133088"/>
            <a:ext cx="109728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271016" y="4133088"/>
            <a:ext cx="109728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463040" y="4133088"/>
            <a:ext cx="109728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655064" y="4133088"/>
            <a:ext cx="109728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847088" y="4133088"/>
            <a:ext cx="109728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353311" y="4846320"/>
            <a:ext cx="164592" cy="164592"/>
          </a:xfrm>
          <a:prstGeom prst="ellipse">
            <a:avLst/>
          </a:prstGeom>
          <a:solidFill>
            <a:srgbClr val="1A9E8F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331720" y="3977639"/>
            <a:ext cx="1600200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1F2B38"/>
                </a:solidFill>
                <a:latin typeface="Calibri"/>
              </a:rPr>
              <a:t>Attraversamenti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331720" y="4663440"/>
            <a:ext cx="1600200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 i="1">
                <a:solidFill>
                  <a:srgbClr val="556270"/>
                </a:solidFill>
                <a:latin typeface="Calibri"/>
              </a:rPr>
              <a:t>crossings</a:t>
            </a:r>
          </a:p>
        </p:txBody>
      </p:sp>
      <p:sp>
        <p:nvSpPr>
          <p:cNvPr id="43" name="Tile intersections"/>
          <p:cNvSpPr/>
          <p:nvPr/>
        </p:nvSpPr>
        <p:spPr>
          <a:xfrm>
            <a:off x="4315968" y="3520440"/>
            <a:ext cx="3520440" cy="1783080"/>
          </a:xfrm>
          <a:prstGeom prst="roundRect">
            <a:avLst/>
          </a:prstGeom>
          <a:solidFill>
            <a:srgbClr val="EC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517136" y="3721608"/>
            <a:ext cx="1371600" cy="1371600"/>
          </a:xfrm>
          <a:prstGeom prst="rect">
            <a:avLst/>
          </a:prstGeom>
          <a:solidFill>
            <a:srgbClr val="D9D0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956048" y="3721608"/>
            <a:ext cx="493776" cy="1371600"/>
          </a:xfrm>
          <a:prstGeom prst="rect">
            <a:avLst/>
          </a:prstGeom>
          <a:solidFill>
            <a:srgbClr val="7A84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517136" y="4160520"/>
            <a:ext cx="1371600" cy="493776"/>
          </a:xfrm>
          <a:prstGeom prst="rect">
            <a:avLst/>
          </a:prstGeom>
          <a:solidFill>
            <a:srgbClr val="7A84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4599431" y="4215384"/>
            <a:ext cx="301752" cy="164592"/>
          </a:xfrm>
          <a:prstGeom prst="roundRect">
            <a:avLst/>
          </a:prstGeom>
          <a:solidFill>
            <a:srgbClr val="1F2B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5230368" y="4764024"/>
            <a:ext cx="164592" cy="164592"/>
          </a:xfrm>
          <a:prstGeom prst="ellipse">
            <a:avLst/>
          </a:prstGeom>
          <a:solidFill>
            <a:srgbClr val="1A9E8F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099048" y="3977639"/>
            <a:ext cx="1600200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1F2B38"/>
                </a:solidFill>
                <a:latin typeface="Calibri"/>
              </a:rPr>
              <a:t>Intersezioni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099048" y="4663440"/>
            <a:ext cx="1600200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 i="1">
                <a:solidFill>
                  <a:srgbClr val="556270"/>
                </a:solidFill>
                <a:latin typeface="Calibri"/>
              </a:rPr>
              <a:t>intersections</a:t>
            </a:r>
          </a:p>
        </p:txBody>
      </p:sp>
      <p:sp>
        <p:nvSpPr>
          <p:cNvPr id="51" name="Tile roundabouts"/>
          <p:cNvSpPr/>
          <p:nvPr/>
        </p:nvSpPr>
        <p:spPr>
          <a:xfrm>
            <a:off x="8083296" y="3520440"/>
            <a:ext cx="3520440" cy="1783080"/>
          </a:xfrm>
          <a:prstGeom prst="roundRect">
            <a:avLst/>
          </a:prstGeom>
          <a:solidFill>
            <a:srgbClr val="EC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8284464" y="3721608"/>
            <a:ext cx="1371600" cy="1371600"/>
          </a:xfrm>
          <a:prstGeom prst="rect">
            <a:avLst/>
          </a:prstGeom>
          <a:solidFill>
            <a:srgbClr val="D9D0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Donut 52"/>
          <p:cNvSpPr/>
          <p:nvPr/>
        </p:nvSpPr>
        <p:spPr>
          <a:xfrm>
            <a:off x="8449056" y="3886200"/>
            <a:ext cx="1042416" cy="1042416"/>
          </a:xfrm>
          <a:prstGeom prst="donut">
            <a:avLst/>
          </a:prstGeom>
          <a:solidFill>
            <a:srgbClr val="7A84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8737092" y="4174236"/>
            <a:ext cx="466344" cy="466344"/>
          </a:xfrm>
          <a:prstGeom prst="ellipse">
            <a:avLst/>
          </a:prstGeom>
          <a:solidFill>
            <a:srgbClr val="7FB0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8887968" y="4764024"/>
            <a:ext cx="164592" cy="164592"/>
          </a:xfrm>
          <a:prstGeom prst="ellipse">
            <a:avLst/>
          </a:prstGeom>
          <a:solidFill>
            <a:srgbClr val="1A9E8F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866376" y="3977639"/>
            <a:ext cx="1600200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1F2B38"/>
                </a:solidFill>
                <a:latin typeface="Calibri"/>
              </a:rPr>
              <a:t>Rotatorie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866376" y="4663440"/>
            <a:ext cx="1600200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 i="1">
                <a:solidFill>
                  <a:srgbClr val="556270"/>
                </a:solidFill>
                <a:latin typeface="Calibri"/>
              </a:rPr>
              <a:t>roundabouts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48640" y="5897880"/>
            <a:ext cx="11064240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F2B38"/>
                </a:solidFill>
                <a:latin typeface="Calibri"/>
              </a:rPr>
              <a:t>Unità di analisi: </a:t>
            </a:r>
            <a:r>
              <a:rPr sz="1500" b="0" i="0">
                <a:solidFill>
                  <a:srgbClr val="1F2B38"/>
                </a:solidFill>
                <a:latin typeface="Calibri"/>
              </a:rPr>
              <a:t>il tratto di percorso omogeneo; pedoni, ciclisti e veicoli sono interazioni che vi si sovrappongono.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3600" b="1" i="0">
                <a:solidFill>
                  <a:srgbClr val="1F2B38"/>
                </a:solidFill>
                <a:latin typeface="Calibri"/>
              </a:rPr>
              <a:t>Cosa analizziamo</a:t>
            </a:r>
          </a:p>
        </p:txBody>
      </p:sp>
      <p:pic>
        <p:nvPicPr>
          <p:cNvPr id="3" name="Semantic gaze example" descr="scene_gaze_synthet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63040"/>
            <a:ext cx="5394960" cy="40462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623560"/>
            <a:ext cx="5394960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 i="1">
                <a:solidFill>
                  <a:srgbClr val="556270"/>
                </a:solidFill>
                <a:latin typeface="Calibri"/>
              </a:rPr>
              <a:t>Esempio sintetico: il cerchio arancione è lo sguardo, che cade su un pedone</a:t>
            </a:r>
          </a:p>
        </p:txBody>
      </p:sp>
      <p:sp>
        <p:nvSpPr>
          <p:cNvPr id="5" name="Oval 4"/>
          <p:cNvSpPr/>
          <p:nvPr/>
        </p:nvSpPr>
        <p:spPr>
          <a:xfrm>
            <a:off x="6332220" y="1595628"/>
            <a:ext cx="777240" cy="777240"/>
          </a:xfrm>
          <a:prstGeom prst="ellipse">
            <a:avLst/>
          </a:prstGeom>
          <a:solidFill>
            <a:srgbClr val="1A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Parallelogram 5"/>
          <p:cNvSpPr/>
          <p:nvPr/>
        </p:nvSpPr>
        <p:spPr>
          <a:xfrm>
            <a:off x="6496994" y="2063252"/>
            <a:ext cx="447690" cy="105338"/>
          </a:xfrm>
          <a:prstGeom prst="parallelogram">
            <a:avLst/>
          </a:prstGeom>
          <a:solidFill>
            <a:srgbClr val="C6D5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Parallelogram 6"/>
          <p:cNvSpPr/>
          <p:nvPr/>
        </p:nvSpPr>
        <p:spPr>
          <a:xfrm>
            <a:off x="6496994" y="1977664"/>
            <a:ext cx="447690" cy="105338"/>
          </a:xfrm>
          <a:prstGeom prst="parallelogram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Parallelogram 7"/>
          <p:cNvSpPr/>
          <p:nvPr/>
        </p:nvSpPr>
        <p:spPr>
          <a:xfrm>
            <a:off x="6496994" y="1892076"/>
            <a:ext cx="447690" cy="105338"/>
          </a:xfrm>
          <a:prstGeom prst="parallelogram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60920" y="1618488"/>
            <a:ext cx="4297680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1F2B38"/>
                </a:solidFill>
                <a:latin typeface="Calibri"/>
              </a:rPr>
              <a:t>Scena semantica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60920" y="2039112"/>
            <a:ext cx="429768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556270"/>
                </a:solidFill>
                <a:latin typeface="Calibri"/>
              </a:rPr>
              <a:t>strada, pista ciclabile, pedoni, veicoli, segnaletica</a:t>
            </a:r>
          </a:p>
        </p:txBody>
      </p:sp>
      <p:sp>
        <p:nvSpPr>
          <p:cNvPr id="11" name="Oval 10"/>
          <p:cNvSpPr/>
          <p:nvPr/>
        </p:nvSpPr>
        <p:spPr>
          <a:xfrm>
            <a:off x="6332220" y="2619756"/>
            <a:ext cx="777240" cy="777240"/>
          </a:xfrm>
          <a:prstGeom prst="ellipse">
            <a:avLst/>
          </a:prstGeom>
          <a:solidFill>
            <a:srgbClr val="1A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57492" y="2870118"/>
            <a:ext cx="526694" cy="27651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615501" y="2903037"/>
            <a:ext cx="210677" cy="210677"/>
          </a:xfrm>
          <a:prstGeom prst="ellipse">
            <a:avLst/>
          </a:prstGeom>
          <a:solidFill>
            <a:srgbClr val="F2A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674754" y="2962290"/>
            <a:ext cx="92171" cy="92171"/>
          </a:xfrm>
          <a:prstGeom prst="ellipse">
            <a:avLst/>
          </a:prstGeom>
          <a:solidFill>
            <a:srgbClr val="1F2B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60920" y="2642616"/>
            <a:ext cx="4297680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1F2B38"/>
                </a:solidFill>
                <a:latin typeface="Calibri"/>
              </a:rPr>
              <a:t>Sguardo (semantic gaze)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60920" y="3063240"/>
            <a:ext cx="429768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556270"/>
                </a:solidFill>
                <a:latin typeface="Calibri"/>
              </a:rPr>
              <a:t>cosa osserva il rider e per quanto tempo</a:t>
            </a:r>
          </a:p>
        </p:txBody>
      </p:sp>
      <p:sp>
        <p:nvSpPr>
          <p:cNvPr id="17" name="Oval 16"/>
          <p:cNvSpPr/>
          <p:nvPr/>
        </p:nvSpPr>
        <p:spPr>
          <a:xfrm>
            <a:off x="6332220" y="3643884"/>
            <a:ext cx="777240" cy="777240"/>
          </a:xfrm>
          <a:prstGeom prst="ellipse">
            <a:avLst/>
          </a:prstGeom>
          <a:solidFill>
            <a:srgbClr val="1A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Block Arc 17"/>
          <p:cNvSpPr/>
          <p:nvPr/>
        </p:nvSpPr>
        <p:spPr>
          <a:xfrm>
            <a:off x="6496994" y="3834993"/>
            <a:ext cx="447690" cy="447690"/>
          </a:xfrm>
          <a:prstGeom prst="blockArc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" name="Connector 18"/>
          <p:cNvCxnSpPr/>
          <p:nvPr/>
        </p:nvCxnSpPr>
        <p:spPr>
          <a:xfrm flipV="1">
            <a:off x="6720840" y="3927165"/>
            <a:ext cx="131673" cy="131673"/>
          </a:xfrm>
          <a:prstGeom prst="line">
            <a:avLst/>
          </a:prstGeom>
          <a:ln w="38100">
            <a:solidFill>
              <a:srgbClr val="F2A3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7360920" y="3666744"/>
            <a:ext cx="4297680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1F2B38"/>
                </a:solidFill>
                <a:latin typeface="Calibri"/>
              </a:rPr>
              <a:t>Dinamica del rider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60920" y="4087368"/>
            <a:ext cx="429768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556270"/>
                </a:solidFill>
                <a:latin typeface="Calibri"/>
              </a:rPr>
              <a:t>velocità, rallentamenti, stabilità della traiettoria</a:t>
            </a:r>
          </a:p>
        </p:txBody>
      </p:sp>
      <p:sp>
        <p:nvSpPr>
          <p:cNvPr id="22" name="Oval 21"/>
          <p:cNvSpPr/>
          <p:nvPr/>
        </p:nvSpPr>
        <p:spPr>
          <a:xfrm>
            <a:off x="6332220" y="4668012"/>
            <a:ext cx="777240" cy="777240"/>
          </a:xfrm>
          <a:prstGeom prst="ellipse">
            <a:avLst/>
          </a:prstGeom>
          <a:solidFill>
            <a:srgbClr val="1A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57492" y="4984211"/>
            <a:ext cx="144840" cy="1448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839346" y="4984211"/>
            <a:ext cx="144840" cy="144840"/>
          </a:xfrm>
          <a:prstGeom prst="ellipse">
            <a:avLst/>
          </a:prstGeom>
          <a:solidFill>
            <a:srgbClr val="F2A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Left-Right Arrow 24"/>
          <p:cNvSpPr/>
          <p:nvPr/>
        </p:nvSpPr>
        <p:spPr>
          <a:xfrm>
            <a:off x="6615501" y="5010546"/>
            <a:ext cx="210677" cy="92171"/>
          </a:xfrm>
          <a:prstGeom prst="leftRightArrow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60920" y="4690872"/>
            <a:ext cx="4297680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1F2B38"/>
                </a:solidFill>
                <a:latin typeface="Calibri"/>
              </a:rPr>
              <a:t>Interazioni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60920" y="5111496"/>
            <a:ext cx="429768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556270"/>
                </a:solidFill>
                <a:latin typeface="Calibri"/>
              </a:rPr>
              <a:t>pedoni, ciclisti, altri monopattini, veicoli, ostacoli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3600" b="1" i="0">
                <a:solidFill>
                  <a:srgbClr val="1F2B38"/>
                </a:solidFill>
                <a:latin typeface="Calibri"/>
              </a:rPr>
              <a:t>Perception → Action</a:t>
            </a:r>
          </a:p>
        </p:txBody>
      </p:sp>
      <p:sp>
        <p:nvSpPr>
          <p:cNvPr id="3" name="Step see"/>
          <p:cNvSpPr/>
          <p:nvPr/>
        </p:nvSpPr>
        <p:spPr>
          <a:xfrm>
            <a:off x="548640" y="1600200"/>
            <a:ext cx="3611880" cy="1234440"/>
          </a:xfrm>
          <a:prstGeom prst="chevron">
            <a:avLst/>
          </a:prstGeom>
          <a:solidFill>
            <a:srgbClr val="F2A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" y="1783080"/>
            <a:ext cx="260604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2200" b="1" i="0">
                <a:solidFill>
                  <a:srgbClr val="1F2B38"/>
                </a:solidFill>
                <a:latin typeface="Calibri"/>
              </a:rPr>
              <a:t>VEDERE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2286000"/>
            <a:ext cx="260604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400" b="0" i="1">
                <a:solidFill>
                  <a:srgbClr val="1F2B38"/>
                </a:solidFill>
                <a:latin typeface="Calibri"/>
              </a:rPr>
              <a:t>see</a:t>
            </a:r>
          </a:p>
        </p:txBody>
      </p:sp>
      <p:sp>
        <p:nvSpPr>
          <p:cNvPr id="6" name="Step understand / interact"/>
          <p:cNvSpPr/>
          <p:nvPr/>
        </p:nvSpPr>
        <p:spPr>
          <a:xfrm>
            <a:off x="4270248" y="1600200"/>
            <a:ext cx="3611880" cy="1234440"/>
          </a:xfrm>
          <a:prstGeom prst="chevron">
            <a:avLst/>
          </a:prstGeom>
          <a:solidFill>
            <a:srgbClr val="1A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73168" y="1783080"/>
            <a:ext cx="260604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Calibri"/>
              </a:rPr>
              <a:t>CAPIRE / INTERAGIRE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73168" y="2286000"/>
            <a:ext cx="260604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400" b="0" i="1">
                <a:solidFill>
                  <a:srgbClr val="FFFFFF"/>
                </a:solidFill>
                <a:latin typeface="Calibri"/>
              </a:rPr>
              <a:t>understand / interact</a:t>
            </a:r>
          </a:p>
        </p:txBody>
      </p:sp>
      <p:sp>
        <p:nvSpPr>
          <p:cNvPr id="9" name="Step react"/>
          <p:cNvSpPr/>
          <p:nvPr/>
        </p:nvSpPr>
        <p:spPr>
          <a:xfrm>
            <a:off x="7991856" y="1600200"/>
            <a:ext cx="3611880" cy="1234440"/>
          </a:xfrm>
          <a:prstGeom prst="chevron">
            <a:avLst/>
          </a:prstGeom>
          <a:solidFill>
            <a:srgbClr val="116D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94776" y="1783080"/>
            <a:ext cx="260604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Calibri"/>
              </a:rPr>
              <a:t>REAGIRE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94776" y="2286000"/>
            <a:ext cx="260604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400" b="0" i="1">
                <a:solidFill>
                  <a:srgbClr val="FFFFFF"/>
                </a:solidFill>
                <a:latin typeface="Calibri"/>
              </a:rPr>
              <a:t>react</a:t>
            </a:r>
          </a:p>
        </p:txBody>
      </p:sp>
      <p:cxnSp>
        <p:nvCxnSpPr>
          <p:cNvPr id="12" name="Timeline"/>
          <p:cNvCxnSpPr/>
          <p:nvPr/>
        </p:nvCxnSpPr>
        <p:spPr>
          <a:xfrm>
            <a:off x="822960" y="4251960"/>
            <a:ext cx="10515600" cy="0"/>
          </a:xfrm>
          <a:prstGeom prst="line">
            <a:avLst/>
          </a:prstGeom>
          <a:ln w="38100">
            <a:solidFill>
              <a:srgbClr val="1F2B3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1636776" y="4105656"/>
            <a:ext cx="292608" cy="292608"/>
          </a:xfrm>
          <a:prstGeom prst="ellipse">
            <a:avLst/>
          </a:prstGeom>
          <a:solidFill>
            <a:srgbClr val="F2A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4526280"/>
            <a:ext cx="2103120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1F2B38"/>
                </a:solidFill>
                <a:latin typeface="Calibri"/>
              </a:rPr>
              <a:t>primo sguardo al pedone</a:t>
            </a:r>
          </a:p>
          <a:p>
            <a:pPr algn="ctr">
              <a:spcAft>
                <a:spcPts val="0"/>
              </a:spcAft>
            </a:pPr>
            <a:r>
              <a:rPr sz="1400" b="0" i="0">
                <a:solidFill>
                  <a:srgbClr val="1F2B38"/>
                </a:solidFill>
                <a:latin typeface="Calibri"/>
              </a:rPr>
              <a:t>43,6 s</a:t>
            </a:r>
          </a:p>
        </p:txBody>
      </p:sp>
      <p:sp>
        <p:nvSpPr>
          <p:cNvPr id="15" name="Oval 14"/>
          <p:cNvSpPr/>
          <p:nvPr/>
        </p:nvSpPr>
        <p:spPr>
          <a:xfrm>
            <a:off x="4014215" y="4105656"/>
            <a:ext cx="292608" cy="292608"/>
          </a:xfrm>
          <a:prstGeom prst="ellipse">
            <a:avLst/>
          </a:prstGeom>
          <a:solidFill>
            <a:srgbClr val="1A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108960" y="4526280"/>
            <a:ext cx="2103120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1F2B38"/>
                </a:solidFill>
                <a:latin typeface="Calibri"/>
              </a:rPr>
              <a:t>inizio rallentamento</a:t>
            </a:r>
          </a:p>
          <a:p>
            <a:pPr algn="ctr">
              <a:spcAft>
                <a:spcPts val="0"/>
              </a:spcAft>
            </a:pPr>
            <a:r>
              <a:rPr sz="1400" b="0" i="0">
                <a:solidFill>
                  <a:srgbClr val="1F2B38"/>
                </a:solidFill>
                <a:latin typeface="Calibri"/>
              </a:rPr>
              <a:t>44,1 s</a:t>
            </a:r>
          </a:p>
        </p:txBody>
      </p:sp>
      <p:sp>
        <p:nvSpPr>
          <p:cNvPr id="17" name="Oval 16"/>
          <p:cNvSpPr/>
          <p:nvPr/>
        </p:nvSpPr>
        <p:spPr>
          <a:xfrm>
            <a:off x="6300216" y="4105656"/>
            <a:ext cx="292608" cy="292608"/>
          </a:xfrm>
          <a:prstGeom prst="ellipse">
            <a:avLst/>
          </a:prstGeom>
          <a:solidFill>
            <a:srgbClr val="116D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94960" y="4526280"/>
            <a:ext cx="2103120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1F2B38"/>
                </a:solidFill>
                <a:latin typeface="Calibri"/>
              </a:rPr>
              <a:t>decelerazione massima</a:t>
            </a:r>
          </a:p>
        </p:txBody>
      </p:sp>
      <p:sp>
        <p:nvSpPr>
          <p:cNvPr id="19" name="Oval 18"/>
          <p:cNvSpPr/>
          <p:nvPr/>
        </p:nvSpPr>
        <p:spPr>
          <a:xfrm>
            <a:off x="9546336" y="4105656"/>
            <a:ext cx="292608" cy="292608"/>
          </a:xfrm>
          <a:prstGeom prst="ellipse">
            <a:avLst/>
          </a:prstGeom>
          <a:solidFill>
            <a:srgbClr val="1F2B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41080" y="4526280"/>
            <a:ext cx="2103120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1F2B38"/>
                </a:solidFill>
                <a:latin typeface="Calibri"/>
              </a:rPr>
              <a:t>passaggio vicino al pedone</a:t>
            </a:r>
          </a:p>
          <a:p>
            <a:pPr algn="ctr">
              <a:spcAft>
                <a:spcPts val="0"/>
              </a:spcAft>
            </a:pPr>
            <a:r>
              <a:rPr sz="1400" b="0" i="0">
                <a:solidFill>
                  <a:srgbClr val="1F2B38"/>
                </a:solidFill>
                <a:latin typeface="Calibri"/>
              </a:rPr>
              <a:t>49,0 s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783080" y="3840480"/>
            <a:ext cx="2377440" cy="0"/>
          </a:xfrm>
          <a:prstGeom prst="line">
            <a:avLst/>
          </a:prstGeom>
          <a:ln w="31750">
            <a:solidFill>
              <a:srgbClr val="F2A3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783080" y="3749040"/>
            <a:ext cx="0" cy="292608"/>
          </a:xfrm>
          <a:prstGeom prst="line">
            <a:avLst/>
          </a:prstGeom>
          <a:ln w="31750">
            <a:solidFill>
              <a:srgbClr val="F2A3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4160520" y="3749040"/>
            <a:ext cx="0" cy="292608"/>
          </a:xfrm>
          <a:prstGeom prst="line">
            <a:avLst/>
          </a:prstGeom>
          <a:ln w="31750">
            <a:solidFill>
              <a:srgbClr val="F2A3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1234440" y="3401568"/>
            <a:ext cx="347472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1F2B38"/>
                </a:solidFill>
                <a:latin typeface="Calibri"/>
              </a:rPr>
              <a:t>latenza percezione → azione: 0,5 s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1783080" y="5669280"/>
            <a:ext cx="7909560" cy="0"/>
          </a:xfrm>
          <a:prstGeom prst="line">
            <a:avLst/>
          </a:prstGeom>
          <a:ln w="19050">
            <a:solidFill>
              <a:srgbClr val="55627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3657600" y="5760720"/>
            <a:ext cx="420624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556270"/>
                </a:solidFill>
                <a:latin typeface="Calibri"/>
              </a:rPr>
              <a:t>anticipo visivo: 5,4 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263640"/>
            <a:ext cx="1106424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0" i="1">
                <a:solidFill>
                  <a:srgbClr val="556270"/>
                </a:solidFill>
                <a:latin typeface="Calibri"/>
              </a:rPr>
              <a:t>Esempio su dati sintetici. Termini neutri: interazione, evento (non "pericolo").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3600" b="1" i="0">
                <a:solidFill>
                  <a:srgbClr val="1F2B38"/>
                </a:solidFill>
                <a:latin typeface="Calibri"/>
              </a:rPr>
              <a:t>Confronti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25880" y="1417320"/>
            <a:ext cx="100584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300" b="0" i="0">
                <a:solidFill>
                  <a:srgbClr val="556270"/>
                </a:solidFill>
                <a:latin typeface="Calibri"/>
              </a:rPr>
              <a:t>pista protetta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377439" y="1417320"/>
            <a:ext cx="100584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300" b="0" i="0">
                <a:solidFill>
                  <a:srgbClr val="556270"/>
                </a:solidFill>
                <a:latin typeface="Calibri"/>
              </a:rPr>
              <a:t>condiviso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29000" y="1417320"/>
            <a:ext cx="100584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300" b="0" i="0">
                <a:solidFill>
                  <a:srgbClr val="556270"/>
                </a:solidFill>
                <a:latin typeface="Calibri"/>
              </a:rPr>
              <a:t>strada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80559" y="1417320"/>
            <a:ext cx="100584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300" b="0" i="0">
                <a:solidFill>
                  <a:srgbClr val="556270"/>
                </a:solidFill>
                <a:latin typeface="Calibri"/>
              </a:rPr>
              <a:t>rotatoria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847088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F2B38"/>
                </a:solidFill>
                <a:latin typeface="Calibri"/>
              </a:rPr>
              <a:t>Rider A</a:t>
            </a:r>
          </a:p>
        </p:txBody>
      </p:sp>
      <p:sp>
        <p:nvSpPr>
          <p:cNvPr id="8" name="Oval 7"/>
          <p:cNvSpPr/>
          <p:nvPr/>
        </p:nvSpPr>
        <p:spPr>
          <a:xfrm>
            <a:off x="1645920" y="1828800"/>
            <a:ext cx="365760" cy="365760"/>
          </a:xfrm>
          <a:prstGeom prst="ellipse">
            <a:avLst/>
          </a:prstGeom>
          <a:solidFill>
            <a:srgbClr val="C6D5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697479" y="1828800"/>
            <a:ext cx="365760" cy="365760"/>
          </a:xfrm>
          <a:prstGeom prst="ellipse">
            <a:avLst/>
          </a:prstGeom>
          <a:solidFill>
            <a:srgbClr val="C6D5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749039" y="1828800"/>
            <a:ext cx="365760" cy="365760"/>
          </a:xfrm>
          <a:prstGeom prst="ellipse">
            <a:avLst/>
          </a:prstGeom>
          <a:solidFill>
            <a:srgbClr val="1A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800599" y="1828800"/>
            <a:ext cx="365760" cy="365760"/>
          </a:xfrm>
          <a:prstGeom prst="ellipse">
            <a:avLst/>
          </a:prstGeom>
          <a:solidFill>
            <a:srgbClr val="C6D5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715768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F2B38"/>
                </a:solidFill>
                <a:latin typeface="Calibri"/>
              </a:rPr>
              <a:t>Rider B</a:t>
            </a:r>
          </a:p>
        </p:txBody>
      </p:sp>
      <p:sp>
        <p:nvSpPr>
          <p:cNvPr id="13" name="Oval 12"/>
          <p:cNvSpPr/>
          <p:nvPr/>
        </p:nvSpPr>
        <p:spPr>
          <a:xfrm>
            <a:off x="1645920" y="2697480"/>
            <a:ext cx="365760" cy="365760"/>
          </a:xfrm>
          <a:prstGeom prst="ellipse">
            <a:avLst/>
          </a:prstGeom>
          <a:solidFill>
            <a:srgbClr val="F2A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697479" y="2697480"/>
            <a:ext cx="365760" cy="365760"/>
          </a:xfrm>
          <a:prstGeom prst="ellipse">
            <a:avLst/>
          </a:prstGeom>
          <a:solidFill>
            <a:srgbClr val="F2A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749039" y="2697480"/>
            <a:ext cx="365760" cy="365760"/>
          </a:xfrm>
          <a:prstGeom prst="ellipse">
            <a:avLst/>
          </a:prstGeom>
          <a:solidFill>
            <a:srgbClr val="F2A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800599" y="2697480"/>
            <a:ext cx="365760" cy="365760"/>
          </a:xfrm>
          <a:prstGeom prst="ellipse">
            <a:avLst/>
          </a:prstGeom>
          <a:solidFill>
            <a:srgbClr val="F2A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3584447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F2B38"/>
                </a:solidFill>
                <a:latin typeface="Calibri"/>
              </a:rPr>
              <a:t>Rider C</a:t>
            </a:r>
          </a:p>
        </p:txBody>
      </p:sp>
      <p:sp>
        <p:nvSpPr>
          <p:cNvPr id="18" name="Oval 17"/>
          <p:cNvSpPr/>
          <p:nvPr/>
        </p:nvSpPr>
        <p:spPr>
          <a:xfrm>
            <a:off x="1645920" y="3566159"/>
            <a:ext cx="365760" cy="365760"/>
          </a:xfrm>
          <a:prstGeom prst="ellipse">
            <a:avLst/>
          </a:prstGeom>
          <a:solidFill>
            <a:srgbClr val="C6D5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2697479" y="3566159"/>
            <a:ext cx="365760" cy="365760"/>
          </a:xfrm>
          <a:prstGeom prst="ellipse">
            <a:avLst/>
          </a:prstGeom>
          <a:solidFill>
            <a:srgbClr val="C6D5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749039" y="3566159"/>
            <a:ext cx="365760" cy="365760"/>
          </a:xfrm>
          <a:prstGeom prst="ellipse">
            <a:avLst/>
          </a:prstGeom>
          <a:solidFill>
            <a:srgbClr val="1A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800599" y="3566159"/>
            <a:ext cx="365760" cy="365760"/>
          </a:xfrm>
          <a:prstGeom prst="ellipse">
            <a:avLst/>
          </a:prstGeom>
          <a:solidFill>
            <a:srgbClr val="C6D5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4453128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F2B38"/>
                </a:solidFill>
                <a:latin typeface="Calibri"/>
              </a:rPr>
              <a:t>Rider D</a:t>
            </a:r>
          </a:p>
        </p:txBody>
      </p:sp>
      <p:sp>
        <p:nvSpPr>
          <p:cNvPr id="23" name="Oval 22"/>
          <p:cNvSpPr/>
          <p:nvPr/>
        </p:nvSpPr>
        <p:spPr>
          <a:xfrm>
            <a:off x="1645920" y="4434840"/>
            <a:ext cx="365760" cy="365760"/>
          </a:xfrm>
          <a:prstGeom prst="ellipse">
            <a:avLst/>
          </a:prstGeom>
          <a:solidFill>
            <a:srgbClr val="C6D5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2697479" y="4434840"/>
            <a:ext cx="365760" cy="365760"/>
          </a:xfrm>
          <a:prstGeom prst="ellipse">
            <a:avLst/>
          </a:prstGeom>
          <a:solidFill>
            <a:srgbClr val="C6D5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3749039" y="4434840"/>
            <a:ext cx="365760" cy="365760"/>
          </a:xfrm>
          <a:prstGeom prst="ellipse">
            <a:avLst/>
          </a:prstGeom>
          <a:solidFill>
            <a:srgbClr val="1A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4800599" y="4434840"/>
            <a:ext cx="365760" cy="365760"/>
          </a:xfrm>
          <a:prstGeom prst="ellipse">
            <a:avLst/>
          </a:prstGeom>
          <a:solidFill>
            <a:srgbClr val="C6D5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Same rider row"/>
          <p:cNvSpPr/>
          <p:nvPr/>
        </p:nvSpPr>
        <p:spPr>
          <a:xfrm>
            <a:off x="1417320" y="2532888"/>
            <a:ext cx="3977639" cy="694944"/>
          </a:xfrm>
          <a:prstGeom prst="roundRect">
            <a:avLst/>
          </a:prstGeom>
          <a:noFill/>
          <a:ln w="31750">
            <a:solidFill>
              <a:srgbClr val="F2A3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Same infrastructure column"/>
          <p:cNvSpPr/>
          <p:nvPr/>
        </p:nvSpPr>
        <p:spPr>
          <a:xfrm>
            <a:off x="3584448" y="1664208"/>
            <a:ext cx="694944" cy="3300983"/>
          </a:xfrm>
          <a:prstGeom prst="roundRect">
            <a:avLst/>
          </a:prstGeom>
          <a:noFill/>
          <a:ln w="31750">
            <a:solidFill>
              <a:srgbClr val="1A9E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400800" y="1673352"/>
            <a:ext cx="292608" cy="292608"/>
          </a:xfrm>
          <a:prstGeom prst="ellipse">
            <a:avLst/>
          </a:prstGeom>
          <a:solidFill>
            <a:srgbClr val="F2A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903720" y="1600200"/>
            <a:ext cx="4754880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1F2B38"/>
                </a:solidFill>
                <a:latin typeface="Calibri"/>
              </a:rPr>
              <a:t>Stesso rider, infrastrutture diverse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03720" y="2057400"/>
            <a:ext cx="4754880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556270"/>
                </a:solidFill>
                <a:latin typeface="Calibri"/>
              </a:rPr>
              <a:t>come cambia lo stesso conducente da un contesto all'altro</a:t>
            </a:r>
          </a:p>
        </p:txBody>
      </p:sp>
      <p:sp>
        <p:nvSpPr>
          <p:cNvPr id="32" name="Oval 31"/>
          <p:cNvSpPr/>
          <p:nvPr/>
        </p:nvSpPr>
        <p:spPr>
          <a:xfrm>
            <a:off x="6400800" y="2907792"/>
            <a:ext cx="292608" cy="292608"/>
          </a:xfrm>
          <a:prstGeom prst="ellipse">
            <a:avLst/>
          </a:prstGeom>
          <a:solidFill>
            <a:srgbClr val="1A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03720" y="2834640"/>
            <a:ext cx="4754880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1F2B38"/>
                </a:solidFill>
                <a:latin typeface="Calibri"/>
              </a:rPr>
              <a:t>Rider diversi, stessa infrastruttura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03720" y="3291840"/>
            <a:ext cx="4754880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556270"/>
                </a:solidFill>
                <a:latin typeface="Calibri"/>
              </a:rPr>
              <a:t>cosa è comune a tutti in uno stesso contesto</a:t>
            </a:r>
          </a:p>
        </p:txBody>
      </p:sp>
      <p:sp>
        <p:nvSpPr>
          <p:cNvPr id="35" name="Model"/>
          <p:cNvSpPr/>
          <p:nvPr/>
        </p:nvSpPr>
        <p:spPr>
          <a:xfrm>
            <a:off x="6400800" y="4297680"/>
            <a:ext cx="5257800" cy="1325880"/>
          </a:xfrm>
          <a:prstGeom prst="roundRect">
            <a:avLst/>
          </a:prstGeom>
          <a:solidFill>
            <a:srgbClr val="EC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629400" y="4434840"/>
            <a:ext cx="4846320" cy="10972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F2B38"/>
                </a:solidFill>
                <a:latin typeface="Calibri"/>
              </a:rPr>
              <a:t>comportamento</a:t>
            </a:r>
          </a:p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1F2B38"/>
                </a:solidFill>
                <a:latin typeface="Calibri"/>
              </a:rPr>
              <a:t>= effetto rider + effetto infrastruttura</a:t>
            </a:r>
          </a:p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1F2B38"/>
                </a:solidFill>
                <a:latin typeface="Calibri"/>
              </a:rPr>
              <a:t>+ interazione rider × infrastruttura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3600" b="1" i="0">
                <a:solidFill>
                  <a:srgbClr val="1F2B38"/>
                </a:solidFill>
                <a:latin typeface="Calibri"/>
              </a:rPr>
              <a:t>Privacy &amp; Etica</a:t>
            </a:r>
          </a:p>
        </p:txBody>
      </p:sp>
      <p:sp>
        <p:nvSpPr>
          <p:cNvPr id="3" name="Card Nessuna manovra pericolosa"/>
          <p:cNvSpPr/>
          <p:nvPr/>
        </p:nvSpPr>
        <p:spPr>
          <a:xfrm>
            <a:off x="548640" y="1463040"/>
            <a:ext cx="5394960" cy="1691640"/>
          </a:xfrm>
          <a:prstGeom prst="roundRect">
            <a:avLst/>
          </a:prstGeom>
          <a:solidFill>
            <a:srgbClr val="EC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91539" y="1783080"/>
            <a:ext cx="1051560" cy="1051560"/>
          </a:xfrm>
          <a:prstGeom prst="ellipse">
            <a:avLst/>
          </a:prstGeom>
          <a:solidFill>
            <a:srgbClr val="1A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&quot;No&quot; Symbol 4"/>
          <p:cNvSpPr/>
          <p:nvPr/>
        </p:nvSpPr>
        <p:spPr>
          <a:xfrm>
            <a:off x="1156716" y="2048256"/>
            <a:ext cx="521207" cy="521207"/>
          </a:xfrm>
          <a:prstGeom prst="noSmoking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194560" y="1783080"/>
            <a:ext cx="356616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1F2B38"/>
                </a:solidFill>
                <a:latin typeface="Calibri"/>
              </a:rPr>
              <a:t>Nessuna manovra pericolosa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94560" y="2286000"/>
            <a:ext cx="3566160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556270"/>
                </a:solidFill>
                <a:latin typeface="Calibri"/>
              </a:rPr>
              <a:t>nessuna frenata al limite, nessuna situazione provocata</a:t>
            </a:r>
          </a:p>
        </p:txBody>
      </p:sp>
      <p:sp>
        <p:nvSpPr>
          <p:cNvPr id="8" name="Card Guida naturalistica"/>
          <p:cNvSpPr/>
          <p:nvPr/>
        </p:nvSpPr>
        <p:spPr>
          <a:xfrm>
            <a:off x="6217920" y="1463040"/>
            <a:ext cx="5394960" cy="1691640"/>
          </a:xfrm>
          <a:prstGeom prst="roundRect">
            <a:avLst/>
          </a:prstGeom>
          <a:solidFill>
            <a:srgbClr val="EC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560820" y="1783080"/>
            <a:ext cx="1051560" cy="1051560"/>
          </a:xfrm>
          <a:prstGeom prst="ellipse">
            <a:avLst/>
          </a:prstGeom>
          <a:solidFill>
            <a:srgbClr val="1A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Freeform 9"/>
          <p:cNvSpPr/>
          <p:nvPr/>
        </p:nvSpPr>
        <p:spPr>
          <a:xfrm>
            <a:off x="6808622" y="2117750"/>
            <a:ext cx="555955" cy="382219"/>
          </a:xfrm>
          <a:custGeom>
            <a:avLst/>
            <a:gdLst/>
            <a:ahLst/>
            <a:cxnLst/>
            <a:rect l="l" t="t" r="r" b="b"/>
            <a:pathLst>
              <a:path w="555955" h="382219">
                <a:moveTo>
                  <a:pt x="0" y="382219"/>
                </a:moveTo>
                <a:lnTo>
                  <a:pt x="191110" y="382219"/>
                </a:lnTo>
                <a:lnTo>
                  <a:pt x="191110" y="147676"/>
                </a:lnTo>
                <a:lnTo>
                  <a:pt x="399593" y="147676"/>
                </a:lnTo>
                <a:lnTo>
                  <a:pt x="399593" y="0"/>
                </a:lnTo>
                <a:lnTo>
                  <a:pt x="555955" y="0"/>
                </a:lnTo>
              </a:path>
            </a:pathLst>
          </a:custGeom>
          <a:noFill/>
          <a:ln w="381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747814" y="2439162"/>
            <a:ext cx="121615" cy="121615"/>
          </a:xfrm>
          <a:prstGeom prst="ellipse">
            <a:avLst/>
          </a:prstGeom>
          <a:solidFill>
            <a:srgbClr val="F2A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303770" y="2056942"/>
            <a:ext cx="121615" cy="121615"/>
          </a:xfrm>
          <a:prstGeom prst="ellipse">
            <a:avLst/>
          </a:prstGeom>
          <a:solidFill>
            <a:srgbClr val="F2A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0" y="1783080"/>
            <a:ext cx="356616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1F2B38"/>
                </a:solidFill>
                <a:latin typeface="Calibri"/>
              </a:rPr>
              <a:t>Guida naturalistica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0" y="2286000"/>
            <a:ext cx="3566160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556270"/>
                </a:solidFill>
                <a:latin typeface="Calibri"/>
              </a:rPr>
              <a:t>percorso reale, stile abituale, stop in qualsiasi momento</a:t>
            </a:r>
          </a:p>
        </p:txBody>
      </p:sp>
      <p:sp>
        <p:nvSpPr>
          <p:cNvPr id="15" name="Card Volti e targhe anonimizzati"/>
          <p:cNvSpPr/>
          <p:nvPr/>
        </p:nvSpPr>
        <p:spPr>
          <a:xfrm>
            <a:off x="548640" y="3429000"/>
            <a:ext cx="5394960" cy="1691640"/>
          </a:xfrm>
          <a:prstGeom prst="roundRect">
            <a:avLst/>
          </a:prstGeom>
          <a:solidFill>
            <a:srgbClr val="EC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91539" y="3749039"/>
            <a:ext cx="1051560" cy="1051560"/>
          </a:xfrm>
          <a:prstGeom prst="ellipse">
            <a:avLst/>
          </a:prstGeom>
          <a:solidFill>
            <a:srgbClr val="1A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82776" y="4040276"/>
            <a:ext cx="138988" cy="1389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347825" y="4040276"/>
            <a:ext cx="138988" cy="138988"/>
          </a:xfrm>
          <a:prstGeom prst="rect">
            <a:avLst/>
          </a:prstGeom>
          <a:solidFill>
            <a:srgbClr val="C6D5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512874" y="4040276"/>
            <a:ext cx="138988" cy="1389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182776" y="4205325"/>
            <a:ext cx="138988" cy="138988"/>
          </a:xfrm>
          <a:prstGeom prst="rect">
            <a:avLst/>
          </a:prstGeom>
          <a:solidFill>
            <a:srgbClr val="C6D5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347825" y="4205325"/>
            <a:ext cx="138988" cy="1389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512874" y="4205325"/>
            <a:ext cx="138988" cy="138988"/>
          </a:xfrm>
          <a:prstGeom prst="rect">
            <a:avLst/>
          </a:prstGeom>
          <a:solidFill>
            <a:srgbClr val="C6D5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182776" y="4370374"/>
            <a:ext cx="138988" cy="1389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347825" y="4370374"/>
            <a:ext cx="138988" cy="138988"/>
          </a:xfrm>
          <a:prstGeom prst="rect">
            <a:avLst/>
          </a:prstGeom>
          <a:solidFill>
            <a:srgbClr val="C6D5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512874" y="4370374"/>
            <a:ext cx="138988" cy="1389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194560" y="3749039"/>
            <a:ext cx="356616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1F2B38"/>
                </a:solidFill>
                <a:latin typeface="Calibri"/>
              </a:rPr>
              <a:t>Volti e targhe anonimizzati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94560" y="4251960"/>
            <a:ext cx="3566160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556270"/>
                </a:solidFill>
                <a:latin typeface="Calibri"/>
              </a:rPr>
              <a:t>sfocatura automatica e controllo a campione</a:t>
            </a:r>
          </a:p>
        </p:txBody>
      </p:sp>
      <p:sp>
        <p:nvSpPr>
          <p:cNvPr id="28" name="Card ID pseudonimi"/>
          <p:cNvSpPr/>
          <p:nvPr/>
        </p:nvSpPr>
        <p:spPr>
          <a:xfrm>
            <a:off x="6217920" y="3429000"/>
            <a:ext cx="5394960" cy="1691640"/>
          </a:xfrm>
          <a:prstGeom prst="roundRect">
            <a:avLst/>
          </a:prstGeom>
          <a:solidFill>
            <a:srgbClr val="EC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560820" y="3749039"/>
            <a:ext cx="1051560" cy="1051560"/>
          </a:xfrm>
          <a:prstGeom prst="ellipse">
            <a:avLst/>
          </a:prstGeom>
          <a:solidFill>
            <a:srgbClr val="1A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773875" y="4092397"/>
            <a:ext cx="625449" cy="364845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73875" y="4092397"/>
            <a:ext cx="625449" cy="3648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116D63"/>
                </a:solidFill>
                <a:latin typeface="Calibri"/>
              </a:rPr>
              <a:t>P001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63840" y="3749039"/>
            <a:ext cx="356616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1F2B38"/>
                </a:solidFill>
                <a:latin typeface="Calibri"/>
              </a:rPr>
              <a:t>ID pseudonimi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863840" y="4251960"/>
            <a:ext cx="3566160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556270"/>
                </a:solidFill>
                <a:latin typeface="Calibri"/>
              </a:rPr>
              <a:t>nessun nome nei dati; GPS di partenza e arrivo rimosso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562356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F2B38"/>
                </a:solidFill>
                <a:latin typeface="Calibri"/>
              </a:rPr>
              <a:t>Documentazione per il Comitato Etico in preparazione: </a:t>
            </a:r>
            <a:r>
              <a:rPr sz="1500" b="0" i="0">
                <a:solidFill>
                  <a:srgbClr val="1F2B38"/>
                </a:solidFill>
                <a:latin typeface="Calibri"/>
              </a:rPr>
              <a:t>procedura, rischi, dati, persone riprese per caso. Le decisioni ancora aperte sono marcate TBD.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B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3600" b="1" i="0">
                <a:solidFill>
                  <a:srgbClr val="FFFFFF"/>
                </a:solidFill>
                <a:latin typeface="Calibri"/>
              </a:rPr>
              <a:t>Output</a:t>
            </a:r>
          </a:p>
        </p:txBody>
      </p:sp>
      <p:sp>
        <p:nvSpPr>
          <p:cNvPr id="3" name="Output Metriche di comportamento"/>
          <p:cNvSpPr/>
          <p:nvPr/>
        </p:nvSpPr>
        <p:spPr>
          <a:xfrm>
            <a:off x="548640" y="1508760"/>
            <a:ext cx="4846320" cy="868680"/>
          </a:xfrm>
          <a:prstGeom prst="roundRect">
            <a:avLst/>
          </a:prstGeom>
          <a:solidFill>
            <a:srgbClr val="2C3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77240" y="1810512"/>
            <a:ext cx="274320" cy="274320"/>
          </a:xfrm>
          <a:prstGeom prst="ellipse">
            <a:avLst/>
          </a:prstGeom>
          <a:solidFill>
            <a:srgbClr val="1A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34440" y="1600200"/>
            <a:ext cx="4023360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Metriche di comportamento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1984248"/>
            <a:ext cx="4023360" cy="3474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C6D5D2"/>
                </a:solidFill>
                <a:latin typeface="Calibri"/>
              </a:rPr>
              <a:t>velocità, decelerazioni, stop, stabilità</a:t>
            </a:r>
          </a:p>
        </p:txBody>
      </p:sp>
      <p:sp>
        <p:nvSpPr>
          <p:cNvPr id="7" name="Output Semantic gaze"/>
          <p:cNvSpPr/>
          <p:nvPr/>
        </p:nvSpPr>
        <p:spPr>
          <a:xfrm>
            <a:off x="548640" y="2532888"/>
            <a:ext cx="4846320" cy="868680"/>
          </a:xfrm>
          <a:prstGeom prst="roundRect">
            <a:avLst/>
          </a:prstGeom>
          <a:solidFill>
            <a:srgbClr val="2C3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77240" y="2834640"/>
            <a:ext cx="274320" cy="274320"/>
          </a:xfrm>
          <a:prstGeom prst="ellipse">
            <a:avLst/>
          </a:prstGeom>
          <a:solidFill>
            <a:srgbClr val="F2A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34440" y="2624328"/>
            <a:ext cx="4023360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Semantic gaze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3008376"/>
            <a:ext cx="4023360" cy="3474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C6D5D2"/>
                </a:solidFill>
                <a:latin typeface="Calibri"/>
              </a:rPr>
              <a:t>tempo di sguardo per categoria, scansione laterale</a:t>
            </a:r>
          </a:p>
        </p:txBody>
      </p:sp>
      <p:sp>
        <p:nvSpPr>
          <p:cNvPr id="11" name="Output Confronto tra infrastrutture"/>
          <p:cNvSpPr/>
          <p:nvPr/>
        </p:nvSpPr>
        <p:spPr>
          <a:xfrm>
            <a:off x="548640" y="3557016"/>
            <a:ext cx="4846320" cy="868680"/>
          </a:xfrm>
          <a:prstGeom prst="roundRect">
            <a:avLst/>
          </a:prstGeom>
          <a:solidFill>
            <a:srgbClr val="2C3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77240" y="3858768"/>
            <a:ext cx="274320" cy="274320"/>
          </a:xfrm>
          <a:prstGeom prst="ellipse">
            <a:avLst/>
          </a:prstGeom>
          <a:solidFill>
            <a:srgbClr val="1A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4440" y="3648456"/>
            <a:ext cx="4023360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Confronto tra infrastrutture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4032504"/>
            <a:ext cx="4023360" cy="3474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C6D5D2"/>
                </a:solidFill>
                <a:latin typeface="Calibri"/>
              </a:rPr>
              <a:t>stesso rider e rider diversi</a:t>
            </a:r>
          </a:p>
        </p:txBody>
      </p:sp>
      <p:sp>
        <p:nvSpPr>
          <p:cNvPr id="15" name="Output Dataset e metodologia"/>
          <p:cNvSpPr/>
          <p:nvPr/>
        </p:nvSpPr>
        <p:spPr>
          <a:xfrm>
            <a:off x="548640" y="4581144"/>
            <a:ext cx="4846320" cy="868680"/>
          </a:xfrm>
          <a:prstGeom prst="roundRect">
            <a:avLst/>
          </a:prstGeom>
          <a:solidFill>
            <a:srgbClr val="2C3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77240" y="4882896"/>
            <a:ext cx="274320" cy="274320"/>
          </a:xfrm>
          <a:prstGeom prst="ellipse">
            <a:avLst/>
          </a:prstGeom>
          <a:solidFill>
            <a:srgbClr val="1A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34440" y="4672583"/>
            <a:ext cx="4023360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Dataset e metodologia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4440" y="5056631"/>
            <a:ext cx="4023360" cy="3474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C6D5D2"/>
                </a:solidFill>
                <a:latin typeface="Calibri"/>
              </a:rPr>
              <a:t>pipeline aperta e documentata, riproducibile</a:t>
            </a:r>
          </a:p>
        </p:txBody>
      </p:sp>
      <p:pic>
        <p:nvPicPr>
          <p:cNvPr id="19" name="MVP figure" descr="synthetic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1508760"/>
            <a:ext cx="5989320" cy="4278085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5669280" y="5896573"/>
            <a:ext cx="598932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 i="1">
                <a:solidFill>
                  <a:srgbClr val="C6D5D2"/>
                </a:solidFill>
                <a:latin typeface="Calibri"/>
              </a:rPr>
              <a:t>MVP già funzionante su dati sintetici (Windows e Linux)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5715000"/>
            <a:ext cx="4846320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F2A33A"/>
                </a:solidFill>
                <a:latin typeface="Calibri"/>
              </a:rPr>
              <a:t>Prossimo passo: </a:t>
            </a:r>
            <a:r>
              <a:rPr sz="1700" b="0" i="0">
                <a:solidFill>
                  <a:srgbClr val="FFFFFF"/>
                </a:solidFill>
                <a:latin typeface="Calibri"/>
              </a:rPr>
              <a:t>pilota con Aria Gen 2 dopo l'approvazione etica.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AriaGenEScooter - overview</dc:title>
  <dc:subject>Naturalistic e-scooter riding study with Project Aria Gen 2</dc:subject>
  <dc:creator>AriaGenEScooter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